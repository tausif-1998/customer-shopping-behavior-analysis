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Host Grotesk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9284"/>
            <a:ext cx="7556421" cy="567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Shopping Behavior Analysis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6950154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from 3,900 purchases to drive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51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80880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312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03094"/>
            <a:ext cx="304800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28088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312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3803094"/>
            <a:ext cx="304811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per customer transaction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28088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312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803094"/>
            <a:ext cx="304811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coverage across regions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28088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25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312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3803094"/>
            <a:ext cx="304811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items purchased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65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 Tracked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546527"/>
            <a:ext cx="760428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demographics &amp; subscription status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965984"/>
            <a:ext cx="760428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 details &amp; seasonal patterns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385441"/>
            <a:ext cx="760428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Shopping behavior &amp; review ratings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804898"/>
            <a:ext cx="760428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Shipping preferences &amp; discount usage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959096" y="4965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59096" y="5546527"/>
            <a:ext cx="48850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missing values in Review Rating column - handled through median imputation by category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0075"/>
            <a:ext cx="6531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 Journey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248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67526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241834"/>
            <a:ext cx="35211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732252"/>
            <a:ext cx="419635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Imported dataset, checked structure with df.info() and summary statistics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71248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3067526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241834"/>
            <a:ext cx="28782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732252"/>
            <a:ext cx="419635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Review Rating nulls using median by product category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71248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067526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241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732252"/>
            <a:ext cx="419635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age_group bins and purchase_frequency_days columns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Consistency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5829181"/>
            <a:ext cx="640794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columns to snake_case, removed redundant promo_code_used field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16445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5829181"/>
            <a:ext cx="640794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Connected to PostgreSQL for advanced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9387"/>
            <a:ext cx="121225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Insights: Gender &amp; Spending Patterns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13478"/>
            <a:ext cx="6244709" cy="32396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055501" y="5383649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43139"/>
          </a:solidFill>
          <a:ln/>
        </p:spPr>
      </p:sp>
      <p:sp>
        <p:nvSpPr>
          <p:cNvPr id="5" name="Text 2"/>
          <p:cNvSpPr/>
          <p:nvPr/>
        </p:nvSpPr>
        <p:spPr>
          <a:xfrm>
            <a:off x="3343275" y="5383649"/>
            <a:ext cx="4966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3992285" y="5383649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1A1B9"/>
          </a:solidFill>
          <a:ln/>
        </p:spPr>
      </p:sp>
      <p:sp>
        <p:nvSpPr>
          <p:cNvPr id="7" name="Text 4"/>
          <p:cNvSpPr/>
          <p:nvPr/>
        </p:nvSpPr>
        <p:spPr>
          <a:xfrm>
            <a:off x="4280059" y="5383649"/>
            <a:ext cx="7406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2085142"/>
            <a:ext cx="4039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Male Customers Drive Revenue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2666286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shoppers generate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FFB3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$157,890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female shoppers at $75,191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3550682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68% male revenue share suggests opportunities for targeted campaigns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6120765"/>
            <a:ext cx="13042821" cy="1299448"/>
          </a:xfrm>
          <a:prstGeom prst="roundRect">
            <a:avLst>
              <a:gd name="adj" fmla="val 7331"/>
            </a:avLst>
          </a:prstGeom>
          <a:solidFill>
            <a:srgbClr val="FFB393"/>
          </a:solidFill>
          <a:ln w="7620">
            <a:solidFill>
              <a:srgbClr val="E599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224" y="6355199"/>
            <a:ext cx="3423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High-Value Discount Users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6845618"/>
            <a:ext cx="125739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839 customers used discounts but spent above average - smart shoppers seeking value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008"/>
            <a:ext cx="77307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 Performance Leaders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29577"/>
            <a:ext cx="4196358" cy="1654850"/>
          </a:xfrm>
          <a:prstGeom prst="roundRect">
            <a:avLst>
              <a:gd name="adj" fmla="val 8841"/>
            </a:avLst>
          </a:prstGeom>
          <a:solidFill>
            <a:srgbClr val="FAF9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9097"/>
            <a:ext cx="4196358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1989415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55761" y="21595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51084" y="289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51084" y="3386971"/>
            <a:ext cx="368177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rated at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3.86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rating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329577"/>
            <a:ext cx="4196358" cy="1654850"/>
          </a:xfrm>
          <a:prstGeom prst="roundRect">
            <a:avLst>
              <a:gd name="adj" fmla="val 8841"/>
            </a:avLst>
          </a:prstGeom>
          <a:solidFill>
            <a:srgbClr val="FAF9F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299097"/>
            <a:ext cx="4196358" cy="12192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1989415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933" y="21595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74256" y="289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Sandals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74256" y="3386971"/>
            <a:ext cx="368177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performance at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3.84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rating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329577"/>
            <a:ext cx="4196358" cy="1654850"/>
          </a:xfrm>
          <a:prstGeom prst="roundRect">
            <a:avLst>
              <a:gd name="adj" fmla="val 8841"/>
            </a:avLst>
          </a:prstGeom>
          <a:solidFill>
            <a:srgbClr val="FAF9F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2299097"/>
            <a:ext cx="4196358" cy="12192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8032" y="1989415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2105" y="21595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9897427" y="289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Boots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897427" y="3386971"/>
            <a:ext cx="368177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Solid customer satisfaction at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3.82</a:t>
            </a:r>
            <a:endParaRPr lang="en-US" sz="1750" dirty="0"/>
          </a:p>
        </p:txBody>
      </p:sp>
      <p:sp>
        <p:nvSpPr>
          <p:cNvPr id="21" name="Shape 13"/>
          <p:cNvSpPr/>
          <p:nvPr/>
        </p:nvSpPr>
        <p:spPr>
          <a:xfrm>
            <a:off x="793790" y="4551402"/>
            <a:ext cx="6407944" cy="1654850"/>
          </a:xfrm>
          <a:prstGeom prst="roundRect">
            <a:avLst>
              <a:gd name="adj" fmla="val 8841"/>
            </a:avLst>
          </a:prstGeom>
          <a:solidFill>
            <a:srgbClr val="FAF9F5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520922"/>
            <a:ext cx="6407944" cy="12192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540" y="4211241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61614" y="438138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051084" y="5118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Hat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051084" y="5608796"/>
            <a:ext cx="589335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quality at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3.80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rating</a:t>
            </a:r>
            <a:endParaRPr lang="en-US" sz="1750" dirty="0"/>
          </a:p>
        </p:txBody>
      </p:sp>
      <p:sp>
        <p:nvSpPr>
          <p:cNvPr id="27" name="Shape 17"/>
          <p:cNvSpPr/>
          <p:nvPr/>
        </p:nvSpPr>
        <p:spPr>
          <a:xfrm>
            <a:off x="7428548" y="4551402"/>
            <a:ext cx="6407944" cy="1654850"/>
          </a:xfrm>
          <a:prstGeom prst="roundRect">
            <a:avLst>
              <a:gd name="adj" fmla="val 8841"/>
            </a:avLst>
          </a:prstGeom>
          <a:solidFill>
            <a:srgbClr val="FAF9F5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8548" y="4520922"/>
            <a:ext cx="6407944" cy="12192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8" y="4211241"/>
            <a:ext cx="680442" cy="68044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496371" y="438138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7685842" y="51183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Skirt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7685842" y="5608796"/>
            <a:ext cx="589335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Rounds out top 5 at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3.78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rating</a:t>
            </a:r>
            <a:endParaRPr lang="en-US" sz="1750" dirty="0"/>
          </a:p>
        </p:txBody>
      </p:sp>
      <p:sp>
        <p:nvSpPr>
          <p:cNvPr id="33" name="Shape 21"/>
          <p:cNvSpPr/>
          <p:nvPr/>
        </p:nvSpPr>
        <p:spPr>
          <a:xfrm>
            <a:off x="793790" y="6461403"/>
            <a:ext cx="13042821" cy="941070"/>
          </a:xfrm>
          <a:prstGeom prst="roundRect">
            <a:avLst>
              <a:gd name="adj" fmla="val 10123"/>
            </a:avLst>
          </a:prstGeom>
          <a:solidFill>
            <a:srgbClr val="C6E4EB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604" y="6790253"/>
            <a:ext cx="283488" cy="22681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1530906" y="6744891"/>
            <a:ext cx="120788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FFB393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Insight: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Top-rated products span multiple categories - leverage in marketing campaigns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938"/>
            <a:ext cx="85210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Shipping &amp; Subscription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99692"/>
            <a:ext cx="35018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Shipping Type Comparison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09173"/>
            <a:ext cx="6244709" cy="34969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661309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shipping customers spend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FFB3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 more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average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2299692"/>
            <a:ext cx="34863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Subscription Status Impact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2880836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1,053 customers, $59.49 avg spend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300293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2,847 customers, $59.87 avg spend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3719751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subscriber revenue: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$62,645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413920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non-subscriber revenue: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$170,436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4683443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spending difference - focus on conversion benefits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3132"/>
            <a:ext cx="68151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Discount Strategy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8886"/>
            <a:ext cx="337673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8886"/>
            <a:ext cx="1688306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40543" y="2518886"/>
            <a:ext cx="61186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50%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08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576161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discount dependency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35893" y="2518886"/>
            <a:ext cx="294489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518886"/>
            <a:ext cx="1462326" cy="283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50806" y="2518886"/>
            <a:ext cx="104370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49.66%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308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Sneakers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35893" y="3576161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half sold with discount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77995" y="2518886"/>
            <a:ext cx="294489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518886"/>
            <a:ext cx="1444943" cy="283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792908" y="2518886"/>
            <a:ext cx="104370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49.07%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77995" y="308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Coat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77995" y="3576161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discount reliance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483298"/>
            <a:ext cx="294489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483298"/>
            <a:ext cx="1418511" cy="283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08703" y="4483298"/>
            <a:ext cx="104370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48.17%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93790" y="5050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Sweater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93790" y="5540573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Frequent promotional item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5235893" y="4483298"/>
            <a:ext cx="2944892" cy="283488"/>
          </a:xfrm>
          <a:prstGeom prst="roundRect">
            <a:avLst>
              <a:gd name="adj" fmla="val 336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4483298"/>
            <a:ext cx="1394936" cy="2834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50806" y="4483298"/>
            <a:ext cx="104370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47.37%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5235893" y="5050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Pants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5235893" y="5540573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Rounds out top 5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1133951" y="6391037"/>
            <a:ext cx="1270265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42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Finding: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These products may be over-reliant on discounts - test pricing strategies to protect margins</a:t>
            </a:r>
            <a:endParaRPr lang="en-US" sz="1750" dirty="0"/>
          </a:p>
        </p:txBody>
      </p:sp>
      <p:sp>
        <p:nvSpPr>
          <p:cNvPr id="29" name="Shape 22"/>
          <p:cNvSpPr/>
          <p:nvPr/>
        </p:nvSpPr>
        <p:spPr>
          <a:xfrm>
            <a:off x="793790" y="6135886"/>
            <a:ext cx="30480" cy="850463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029" y="480060"/>
            <a:ext cx="7194352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Segmentation Breakdown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436971" y="3218259"/>
            <a:ext cx="2182535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 Customers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11029" y="3595688"/>
            <a:ext cx="400847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customers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1029" y="3962281"/>
            <a:ext cx="400847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of customer base - core revenue drivers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8716" y="1374815"/>
            <a:ext cx="4692848" cy="469284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2002" y="3590568"/>
            <a:ext cx="261223" cy="2612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23383" y="1914049"/>
            <a:ext cx="2182535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Returning Customers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923383" y="2291477"/>
            <a:ext cx="409598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customers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923383" y="2658070"/>
            <a:ext cx="409598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18% showing repeat behavior - conversion opportunity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716" y="1374815"/>
            <a:ext cx="4692848" cy="469284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763" y="2168128"/>
            <a:ext cx="261223" cy="2612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23383" y="4522351"/>
            <a:ext cx="2182535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New Customers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9923383" y="4899779"/>
            <a:ext cx="409598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 customers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923383" y="5266373"/>
            <a:ext cx="409598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2% fresh acquisition - nurture for retention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8716" y="1374815"/>
            <a:ext cx="4692848" cy="4692848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5763" y="5013008"/>
            <a:ext cx="261223" cy="261223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11029" y="6351227"/>
            <a:ext cx="13408343" cy="29408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9" name="Text 11"/>
          <p:cNvSpPr/>
          <p:nvPr/>
        </p:nvSpPr>
        <p:spPr>
          <a:xfrm>
            <a:off x="611029" y="6642378"/>
            <a:ext cx="4120158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Repeat Buyers &amp; Subscription Correlation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611029" y="7334012"/>
            <a:ext cx="649116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Among customers with 5+ purchases: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11029" y="7752993"/>
            <a:ext cx="649116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b="1" dirty="0">
                <a:solidFill>
                  <a:srgbClr val="FFB3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 are subscribers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11029" y="8076009"/>
            <a:ext cx="649116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2,518 are non-subscribers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7535823" y="7334012"/>
            <a:ext cx="649116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Opportunity to convert high-frequency buyers into subscribers with targeted benefits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333" y="593527"/>
            <a:ext cx="8319849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Category Performance Deep Dive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5333" y="1915358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Accessories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55333" y="2381964"/>
            <a:ext cx="3077647" cy="64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sellers: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Jewelry (171), Sunglasses (161), Belt (161)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102656" y="1915358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Clothing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02656" y="2381964"/>
            <a:ext cx="3077647" cy="64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sellers: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Blouse (171), Pants (171), Shirt (169)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49979" y="1915358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Footwear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49979" y="2381964"/>
            <a:ext cx="3077647" cy="64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sellers: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Sandals (160), Shoes (150), Sneakers (145)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797302" y="1915358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Outerwear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797302" y="2381964"/>
            <a:ext cx="3077766" cy="64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sellers: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Jacket (163), Coat (161)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5333" y="3487936"/>
            <a:ext cx="2848332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by Age Group</a:t>
            </a:r>
            <a:endParaRPr lang="en-US" sz="2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333" y="4067889"/>
            <a:ext cx="6296620" cy="35260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86067" y="3466386"/>
            <a:ext cx="6296620" cy="323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adults lead revenue generation at </a:t>
            </a:r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FFB3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$62,143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86067" y="3984308"/>
            <a:ext cx="6296620" cy="323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Relatively balanced across age groups - broad appeal maintained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4446" y="556141"/>
            <a:ext cx="5175766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Strategic Recommendations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044446" y="1293614"/>
            <a:ext cx="3934182" cy="1794748"/>
          </a:xfrm>
          <a:prstGeom prst="roundRect">
            <a:avLst>
              <a:gd name="adj" fmla="val 3732"/>
            </a:avLst>
          </a:prstGeom>
          <a:solidFill>
            <a:srgbClr val="D9EDF2"/>
          </a:solidFill>
          <a:ln w="7620">
            <a:solidFill>
              <a:srgbClr val="FFB39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1491" y="1460659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FFB39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055" y="1592223"/>
            <a:ext cx="215265" cy="2152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1491" y="2098477"/>
            <a:ext cx="1993225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Boost Subscriptions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211491" y="2443163"/>
            <a:ext cx="3600093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 to convert 2,518 repeat buyers into subscribers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0138053" y="1293614"/>
            <a:ext cx="3934301" cy="1794748"/>
          </a:xfrm>
          <a:prstGeom prst="roundRect">
            <a:avLst>
              <a:gd name="adj" fmla="val 3732"/>
            </a:avLst>
          </a:prstGeom>
          <a:solidFill>
            <a:srgbClr val="D9EDF2"/>
          </a:solidFill>
          <a:ln w="7620">
            <a:solidFill>
              <a:srgbClr val="FFB39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305098" y="1460659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FFB3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6662" y="1592223"/>
            <a:ext cx="215265" cy="2152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05098" y="2098477"/>
            <a:ext cx="1993225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Loyalty Programs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0305098" y="2443163"/>
            <a:ext cx="360021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accelerate movement into "Loyal" segment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044446" y="3247787"/>
            <a:ext cx="8027908" cy="1555671"/>
          </a:xfrm>
          <a:prstGeom prst="roundRect">
            <a:avLst>
              <a:gd name="adj" fmla="val 4305"/>
            </a:avLst>
          </a:prstGeom>
          <a:solidFill>
            <a:srgbClr val="D9EDF2"/>
          </a:solidFill>
          <a:ln w="7620">
            <a:solidFill>
              <a:srgbClr val="FFB39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1491" y="3414832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FFB3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3055" y="3546396"/>
            <a:ext cx="215265" cy="2152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1491" y="4052649"/>
            <a:ext cx="208204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Review Discount Policy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211491" y="4397335"/>
            <a:ext cx="7693819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pricing on high-discount products to protect margins while maintaining volume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4446" y="4982766"/>
            <a:ext cx="797243" cy="95678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01113" y="5142190"/>
            <a:ext cx="1993225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 Positioning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7001113" y="5486876"/>
            <a:ext cx="7071241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items (Gloves, Sandals, Boots) in marketing campaigns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4446" y="5939552"/>
            <a:ext cx="797243" cy="95678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01113" y="6098977"/>
            <a:ext cx="1993225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Targeted Marketing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7001113" y="6443663"/>
            <a:ext cx="7071241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young adults, male customers, and express shipping users for maximum ROI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6283643" y="7254954"/>
            <a:ext cx="7788712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4214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Steps: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 these insights through A/B testing and monitor impact on customer lifetime value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044446" y="7075646"/>
            <a:ext cx="22860" cy="597694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2025-10-21T12:01:26Z</dcterms:created>
  <dcterms:modified xsi:type="dcterms:W3CDTF">2025-10-21T12:01:26Z</dcterms:modified>
</cp:coreProperties>
</file>